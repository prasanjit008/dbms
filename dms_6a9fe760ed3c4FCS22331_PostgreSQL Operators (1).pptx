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6A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2" r:id="rId2"/>
    <p:sldId id="356" r:id="rId3"/>
    <p:sldId id="309" r:id="rId4"/>
    <p:sldId id="363" r:id="rId5"/>
    <p:sldId id="310" r:id="rId6"/>
    <p:sldId id="364" r:id="rId7"/>
    <p:sldId id="313" r:id="rId8"/>
    <p:sldId id="365" r:id="rId9"/>
    <p:sldId id="366" r:id="rId10"/>
    <p:sldId id="367" r:id="rId11"/>
    <p:sldId id="368" r:id="rId12"/>
    <p:sldId id="369" r:id="rId13"/>
    <p:sldId id="3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5730F0-78D7-0F50-276F-9541D1562349}" name="Nimai Sahoo" initials="NS" userId="6575240b703d5c1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6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A89C51-5F80-43A5-874E-B667FF685891}" authorId="{935730F0-78D7-0F50-276F-9541D1562349}" created="2024-02-17T16:00:00.645">
    <pc:sldMkLst xmlns:pc="http://schemas.microsoft.com/office/powerpoint/2013/main/command">
      <pc:docMk/>
      <pc:sldMk cId="0" sldId="257"/>
    </pc:sldMkLst>
    <p188:txBody>
      <a:bodyPr/>
      <a:lstStyle/>
      <a:p>
        <a:r>
          <a:rPr lang="en-US"/>
          <a:t>Nimai Sahoo, CS.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8AAC2-F220-4DD5-90A7-EF44AEDF69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BF46-3055-44AD-9DD4-93290672B95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A_0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19150"/>
            <a:ext cx="9144000" cy="443865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b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Operators</a:t>
            </a:r>
            <a:b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Types of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0185"/>
            <a:ext cx="10515600" cy="486677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dirty="0"/>
              <a:t>There are 5 types of operators: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Arithmetic Operators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Comparison Operators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Logical Operators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Like Operator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Special Operators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15" y="457200"/>
            <a:ext cx="9311185" cy="662473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Types of SQL Operators Continued..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302" y="1203649"/>
            <a:ext cx="9573208" cy="5197151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Arithmetic Operators: +  -   *   /   %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 algn="just">
              <a:buNone/>
            </a:pPr>
            <a:r>
              <a:rPr lang="en-IN" dirty="0"/>
              <a:t>Example: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select 30+20 as “30+20”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select 30-20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select 30*20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select 30/20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sz="2400" dirty="0"/>
              <a:t>select 30%20</a:t>
            </a:r>
          </a:p>
          <a:p>
            <a:pPr marL="0" indent="0" algn="just">
              <a:buNone/>
            </a:pPr>
            <a:r>
              <a:rPr lang="en-US" sz="2200" dirty="0"/>
              <a:t>Output:</a:t>
            </a:r>
          </a:p>
          <a:p>
            <a:pPr marL="0" indent="0" algn="just">
              <a:buNone/>
            </a:pPr>
            <a:endParaRPr lang="en-US" sz="2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62573" y="5361987"/>
          <a:ext cx="1402929" cy="731520"/>
        </p:xfrm>
        <a:graphic>
          <a:graphicData uri="http://schemas.openxmlformats.org/drawingml/2006/table">
            <a:tbl>
              <a:tblPr/>
              <a:tblGrid>
                <a:gridCol w="1402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30+20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Operators Continued..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Comparison Operators: =   &lt;     &gt;    &lt;=    &gt;=    &lt;&gt;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select * from Products where Price = 180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select * from Products where Price &gt; 180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select * from Products where Price &lt; 180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select * from Products where Price &gt;= 100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select * from Products where Price &lt;= 100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select * from Products where Price &lt;&gt; 100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>
            <a:normAutofit/>
          </a:bodyPr>
          <a:lstStyle/>
          <a:p>
            <a:r>
              <a:rPr lang="en-IN" sz="3200" b="1" dirty="0"/>
              <a:t>Types of Operators Continued..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939"/>
            <a:ext cx="10515600" cy="4824024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Logical Operators: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AND operator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OR operator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NOT operator</a:t>
            </a:r>
          </a:p>
          <a:p>
            <a:pPr marL="0" indent="0">
              <a:buNone/>
            </a:pPr>
            <a:r>
              <a:rPr lang="en-US" dirty="0"/>
              <a:t>Special Operators: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IN operator: </a:t>
            </a:r>
            <a:r>
              <a:rPr lang="en-IN" dirty="0"/>
              <a:t>The ‘IN’ operator in PostgreSQL allows us to specify multiple values in a WHERE clause. It is a shorthand for multiple OR conditions.</a:t>
            </a:r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NOT IN operator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BETWEEN operator: </a:t>
            </a:r>
            <a:r>
              <a:rPr lang="en-IN" dirty="0"/>
              <a:t>BETWEEN helps in fetching data that falls within two values, inclusively. It’s commonly used with dates, numbers, and text fields when you need to cover a range of records.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 continued..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9808" y="982638"/>
            <a:ext cx="10795379" cy="539086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8000" dirty="0"/>
          </a:p>
          <a:p>
            <a:pPr marL="0" indent="0">
              <a:buNone/>
            </a:pPr>
            <a:r>
              <a:rPr lang="en-IN" sz="8000" dirty="0"/>
              <a:t>Examples:</a:t>
            </a:r>
          </a:p>
          <a:p>
            <a:pPr marL="0" indent="0">
              <a:buNone/>
            </a:pPr>
            <a:endParaRPr lang="en-IN" sz="5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7400" dirty="0"/>
              <a:t>Display the customer details who stays in the London city  in UK from Customers table.</a:t>
            </a:r>
          </a:p>
          <a:p>
            <a:pPr marL="0" indent="0">
              <a:buNone/>
            </a:pPr>
            <a:r>
              <a:rPr lang="en-GB" sz="7400" dirty="0"/>
              <a:t>    SELECT * FROM Customers WHERE City = ‘London’ AND Country = ‘UK’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7400" dirty="0"/>
              <a:t>Display the customer details from the Customers table who either stays in the city London or in the country UK.</a:t>
            </a:r>
          </a:p>
          <a:p>
            <a:pPr marL="0" indent="0">
              <a:buNone/>
            </a:pPr>
            <a:r>
              <a:rPr lang="en-GB" sz="7400" dirty="0"/>
              <a:t>    SELECT * FROM Customers WHERE City = ‘London’ OR Country = ‘UK’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7400" dirty="0"/>
              <a:t>Display the product details from the Products table where the city is  London and quantity is not more than 100. </a:t>
            </a:r>
          </a:p>
          <a:p>
            <a:pPr marL="0" indent="0">
              <a:buNone/>
            </a:pPr>
            <a:r>
              <a:rPr lang="en-GB" sz="7400" dirty="0"/>
              <a:t>    SELECT * FROM Products WHERE City = ‘London’ AND Quantity NOT &gt;100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7400" dirty="0"/>
              <a:t>Display the customer details who either belongs to the city Paris or London.</a:t>
            </a:r>
          </a:p>
          <a:p>
            <a:pPr marL="0" indent="0">
              <a:buNone/>
            </a:pPr>
            <a:r>
              <a:rPr lang="en-GB" sz="7400" dirty="0"/>
              <a:t>     SELECT * FROM Customers WHERE City IN ('</a:t>
            </a:r>
            <a:r>
              <a:rPr lang="en-GB" sz="7400" dirty="0" err="1"/>
              <a:t>Paris','London</a:t>
            </a:r>
            <a:r>
              <a:rPr lang="en-GB" sz="7400" dirty="0"/>
              <a:t>')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7400" dirty="0"/>
              <a:t>Display the customer details who neither belongs to Paris nor belongs to London.</a:t>
            </a:r>
          </a:p>
          <a:p>
            <a:pPr marL="0" indent="0">
              <a:buNone/>
            </a:pPr>
            <a:r>
              <a:rPr lang="en-GB" sz="7400" dirty="0"/>
              <a:t>     SELECT * FROM Customers WHERE City NOT IN ('</a:t>
            </a:r>
            <a:r>
              <a:rPr lang="en-GB" sz="7400" dirty="0" err="1"/>
              <a:t>Paris','London</a:t>
            </a:r>
            <a:r>
              <a:rPr lang="en-GB" sz="7400" dirty="0"/>
              <a:t>')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7400" dirty="0"/>
              <a:t>Display the product details where the price of the product falls in  the range 50 to 60.</a:t>
            </a:r>
          </a:p>
          <a:p>
            <a:pPr marL="0" indent="0">
              <a:buNone/>
            </a:pPr>
            <a:r>
              <a:rPr lang="en-GB" sz="7400" dirty="0"/>
              <a:t>     SELECT * FROM Products WHERE Price BETWEEN 50 AND 60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sz="4200" dirty="0"/>
          </a:p>
          <a:p>
            <a:pPr>
              <a:buFont typeface="Wingdings" panose="05000000000000000000" pitchFamily="2" charset="2"/>
              <a:buChar char="§"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6557"/>
          </a:xfrm>
        </p:spPr>
        <p:txBody>
          <a:bodyPr>
            <a:normAutofit/>
          </a:bodyPr>
          <a:lstStyle/>
          <a:p>
            <a:r>
              <a:rPr lang="en-IN" sz="3200" b="1" dirty="0"/>
              <a:t>Types of Operators Continued..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048" y="1091821"/>
            <a:ext cx="10425752" cy="508514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LIKE Operator: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returns true if the operand matches a pattern. </a:t>
            </a:r>
          </a:p>
          <a:p>
            <a:r>
              <a:rPr lang="en-GB" dirty="0"/>
              <a:t>The LIKE operator uses the following symbols known as wildcard operators in </a:t>
            </a:r>
            <a:r>
              <a:rPr lang="en-GB" dirty="0" err="1"/>
              <a:t>pgSQL</a:t>
            </a:r>
            <a:r>
              <a:rPr lang="en-GB" dirty="0"/>
              <a:t> to perform this pattern-matching task.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To represent zero, one or more than one character, % (percentage) is used.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To represent a single character _ (underscore) is used.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143" y="283428"/>
            <a:ext cx="10515600" cy="6253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800" dirty="0"/>
              <a:t>Examples: </a:t>
            </a:r>
          </a:p>
          <a:p>
            <a:pPr marL="0" indent="0">
              <a:buNone/>
            </a:pPr>
            <a:endParaRPr lang="en-US" sz="3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Display the details of the customers who live in the city, name starts  with the letter ‘N’ and end with ‘k’.</a:t>
            </a:r>
          </a:p>
          <a:p>
            <a:pPr marL="0" indent="0">
              <a:buNone/>
            </a:pPr>
            <a:r>
              <a:rPr lang="en-GB" dirty="0"/>
              <a:t>    SELECT * FROM Customers WHERE City LIKE ‘</a:t>
            </a:r>
            <a:r>
              <a:rPr lang="en-GB" dirty="0" err="1"/>
              <a:t>N%k</a:t>
            </a:r>
            <a:r>
              <a:rPr lang="en-GB" dirty="0"/>
              <a:t>‘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Display the details of the customers who live in the city, where the name  consists of 5 letters starts  with the letter ‘Na’ and end with the letter ‘</a:t>
            </a:r>
            <a:r>
              <a:rPr lang="en-US" altLang="en-GB" dirty="0"/>
              <a:t>i</a:t>
            </a:r>
            <a:r>
              <a:rPr lang="en-GB" dirty="0"/>
              <a:t>k’.</a:t>
            </a:r>
          </a:p>
          <a:p>
            <a:pPr marL="0" indent="0">
              <a:buNone/>
            </a:pPr>
            <a:r>
              <a:rPr lang="en-GB" dirty="0"/>
              <a:t>    SELECT * FROM Customers WHERE City LIKE ‘</a:t>
            </a:r>
            <a:r>
              <a:rPr lang="en-GB" dirty="0" err="1"/>
              <a:t>Na_ik</a:t>
            </a:r>
            <a:r>
              <a:rPr lang="en-GB" dirty="0"/>
              <a:t>‘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 Display the details of the customers who live in the city, where the name  consists of 5 letters and ends with the letters  ‘</a:t>
            </a:r>
            <a:r>
              <a:rPr lang="en-GB" dirty="0" err="1"/>
              <a:t>ik</a:t>
            </a:r>
            <a:r>
              <a:rPr lang="en-GB" dirty="0"/>
              <a:t>’.</a:t>
            </a:r>
          </a:p>
          <a:p>
            <a:pPr marL="0" indent="0">
              <a:buNone/>
            </a:pPr>
            <a:r>
              <a:rPr lang="en-GB" dirty="0"/>
              <a:t>    SELECT * FROM Customers WHERE City LIKE ‘___</a:t>
            </a:r>
            <a:r>
              <a:rPr lang="en-GB" dirty="0" err="1"/>
              <a:t>ik</a:t>
            </a:r>
            <a:r>
              <a:rPr lang="en-GB" dirty="0"/>
              <a:t>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Display the details of the customers who live in the city, where the name  consists of 5 letters and starts with the letters ‘Na’.</a:t>
            </a:r>
          </a:p>
          <a:p>
            <a:pPr marL="0" indent="0">
              <a:buNone/>
            </a:pPr>
            <a:r>
              <a:rPr lang="en-GB" dirty="0"/>
              <a:t>     SELECT * FROM Customers WHERE City LIKE ‘Na___’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Display the details of the customers whose age  number starts with the digit 2.</a:t>
            </a:r>
          </a:p>
          <a:p>
            <a:pPr marL="0" indent="0">
              <a:buNone/>
            </a:pPr>
            <a:r>
              <a:rPr lang="en-GB" dirty="0"/>
              <a:t>      SELECT * FROM Customers WHERE Age LIKE ‘2_’</a:t>
            </a:r>
          </a:p>
          <a:p>
            <a:pPr marL="0" indent="0">
              <a:buNone/>
            </a:pPr>
            <a:r>
              <a:rPr lang="en-GB" dirty="0"/>
              <a:t>      SELECT * FROM Customers WHERE Age LIKE ‘2%’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Display the customer details whose name has the letter ‘a’ in the 3</a:t>
            </a:r>
            <a:r>
              <a:rPr lang="en-GB" baseline="30000" dirty="0"/>
              <a:t>rd</a:t>
            </a:r>
            <a:r>
              <a:rPr lang="en-GB" dirty="0"/>
              <a:t> position.</a:t>
            </a:r>
          </a:p>
          <a:p>
            <a:pPr marL="0" indent="0">
              <a:buNone/>
            </a:pPr>
            <a:r>
              <a:rPr lang="en-GB" dirty="0"/>
              <a:t>      SELECT * FROM Customers WHERE Name LIKE ‘__a%’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Display the customer details in which employee name is not like '</a:t>
            </a:r>
            <a:r>
              <a:rPr lang="en-GB" dirty="0" err="1"/>
              <a:t>Priya</a:t>
            </a:r>
            <a:r>
              <a:rPr lang="en-GB" dirty="0"/>
              <a:t>‘</a:t>
            </a:r>
          </a:p>
          <a:p>
            <a:pPr marL="0" indent="0">
              <a:buNone/>
            </a:pPr>
            <a:r>
              <a:rPr lang="en-GB" dirty="0"/>
              <a:t>      SELECT * FROM Customers WHERE Name  NOT LIKE ‘</a:t>
            </a:r>
            <a:r>
              <a:rPr lang="en-GB" dirty="0" err="1"/>
              <a:t>Priya</a:t>
            </a:r>
            <a:r>
              <a:rPr lang="en-GB" dirty="0"/>
              <a:t>%’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ü"/>
            </a:pP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Concatenation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The </a:t>
            </a:r>
            <a:r>
              <a:rPr lang="en-GB" dirty="0" err="1"/>
              <a:t>pgSQL</a:t>
            </a:r>
            <a:r>
              <a:rPr lang="en-GB" dirty="0"/>
              <a:t> concatenation operator (||) is used to link columns or character strings.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SELECT id, </a:t>
            </a:r>
            <a:r>
              <a:rPr lang="en-GB" dirty="0" err="1"/>
              <a:t>first_name</a:t>
            </a:r>
            <a:r>
              <a:rPr lang="en-GB" dirty="0"/>
              <a:t>, </a:t>
            </a:r>
            <a:r>
              <a:rPr lang="en-GB" dirty="0" err="1"/>
              <a:t>last_name</a:t>
            </a:r>
            <a:r>
              <a:rPr lang="en-GB" dirty="0"/>
              <a:t>, </a:t>
            </a:r>
            <a:r>
              <a:rPr lang="en-GB" dirty="0" err="1"/>
              <a:t>first_name</a:t>
            </a:r>
            <a:r>
              <a:rPr lang="en-GB" dirty="0"/>
              <a:t> || </a:t>
            </a:r>
            <a:r>
              <a:rPr lang="en-GB" dirty="0" err="1"/>
              <a:t>last_name</a:t>
            </a:r>
            <a:r>
              <a:rPr lang="en-GB" dirty="0"/>
              <a:t>, salary, FROM Employee</a:t>
            </a:r>
          </a:p>
          <a:p>
            <a:pPr marL="0" indent="0">
              <a:buNone/>
            </a:pPr>
            <a:r>
              <a:rPr lang="en-GB" dirty="0"/>
              <a:t>id   </a:t>
            </a:r>
            <a:r>
              <a:rPr lang="en-GB" dirty="0" err="1"/>
              <a:t>first_name</a:t>
            </a:r>
            <a:r>
              <a:rPr lang="en-GB" dirty="0"/>
              <a:t>  </a:t>
            </a:r>
            <a:r>
              <a:rPr lang="en-GB" dirty="0" err="1"/>
              <a:t>last_name</a:t>
            </a:r>
            <a:r>
              <a:rPr lang="en-GB" dirty="0"/>
              <a:t>  </a:t>
            </a:r>
            <a:r>
              <a:rPr lang="en-GB" dirty="0" err="1"/>
              <a:t>first_name</a:t>
            </a:r>
            <a:r>
              <a:rPr lang="en-GB" dirty="0"/>
              <a:t> || </a:t>
            </a:r>
            <a:r>
              <a:rPr lang="en-GB" dirty="0" err="1"/>
              <a:t>last_name</a:t>
            </a:r>
            <a:r>
              <a:rPr lang="en-GB" dirty="0"/>
              <a:t>      salary</a:t>
            </a:r>
          </a:p>
          <a:p>
            <a:pPr marL="0" indent="0">
              <a:buNone/>
            </a:pPr>
            <a:r>
              <a:rPr lang="en-IN" dirty="0"/>
              <a:t>1    </a:t>
            </a:r>
            <a:r>
              <a:rPr lang="en-IN" dirty="0" err="1"/>
              <a:t>Rajat</a:t>
            </a:r>
            <a:r>
              <a:rPr lang="en-IN" dirty="0"/>
              <a:t>            </a:t>
            </a:r>
            <a:r>
              <a:rPr lang="en-IN" dirty="0" err="1"/>
              <a:t>Rawat</a:t>
            </a:r>
            <a:r>
              <a:rPr lang="en-IN" dirty="0"/>
              <a:t>                 </a:t>
            </a:r>
            <a:r>
              <a:rPr lang="en-IN" dirty="0" err="1"/>
              <a:t>RajatRawat</a:t>
            </a:r>
            <a:r>
              <a:rPr lang="en-IN" dirty="0"/>
              <a:t>                       10000 </a:t>
            </a:r>
          </a:p>
          <a:p>
            <a:pPr marL="0" indent="0">
              <a:buNone/>
            </a:pPr>
            <a:r>
              <a:rPr lang="en-IN" dirty="0"/>
              <a:t>2    </a:t>
            </a:r>
            <a:r>
              <a:rPr lang="en-IN" dirty="0" err="1"/>
              <a:t>Ajit</a:t>
            </a:r>
            <a:r>
              <a:rPr lang="en-IN" dirty="0"/>
              <a:t>               </a:t>
            </a:r>
            <a:r>
              <a:rPr lang="en-IN" dirty="0" err="1"/>
              <a:t>Lenka</a:t>
            </a:r>
            <a:r>
              <a:rPr lang="en-IN" dirty="0"/>
              <a:t>                   </a:t>
            </a:r>
            <a:r>
              <a:rPr lang="en-IN" dirty="0" err="1"/>
              <a:t>AjitLenka</a:t>
            </a:r>
            <a:r>
              <a:rPr lang="en-IN" dirty="0"/>
              <a:t>                          20000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0714"/>
            <a:ext cx="10515600" cy="481624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Aliases are the temporary names given to tables or columns for the purpose of a particular </a:t>
            </a:r>
            <a:r>
              <a:rPr lang="en-GB" dirty="0" err="1"/>
              <a:t>PostgreSQL</a:t>
            </a:r>
            <a:r>
              <a:rPr lang="en-GB" dirty="0"/>
              <a:t> query. It is used when the name of a column or table is used other than its original name, but the modified name is only temporary.</a:t>
            </a:r>
          </a:p>
          <a:p>
            <a:pPr fontAlgn="base"/>
            <a:r>
              <a:rPr lang="en-GB" dirty="0"/>
              <a:t>Aliases are created to make table or column names more readable.</a:t>
            </a:r>
          </a:p>
          <a:p>
            <a:pPr fontAlgn="base"/>
            <a:r>
              <a:rPr lang="en-GB" dirty="0"/>
              <a:t>The renaming is just a temporary change and the table name does not change in the original database.</a:t>
            </a:r>
          </a:p>
          <a:p>
            <a:pPr fontAlgn="base"/>
            <a:r>
              <a:rPr lang="en-GB" dirty="0"/>
              <a:t>Aliases are useful when table or column names are big or not very readable.</a:t>
            </a:r>
          </a:p>
          <a:p>
            <a:pPr fontAlgn="base"/>
            <a:r>
              <a:rPr lang="en-GB" dirty="0"/>
              <a:t>In </a:t>
            </a:r>
            <a:r>
              <a:rPr lang="en-GB" dirty="0" err="1"/>
              <a:t>PostgreSQL</a:t>
            </a:r>
            <a:r>
              <a:rPr lang="en-GB" dirty="0"/>
              <a:t> </a:t>
            </a:r>
            <a:r>
              <a:rPr lang="en-US" dirty="0"/>
              <a:t>automatically converts unquoted identifiers to lowercase. </a:t>
            </a: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57400" y="5609549"/>
            <a:ext cx="631454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Hence, Unquoted alias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converted to lowercase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Double-quoted alias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case is preserved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empno</a:t>
            </a:r>
            <a:r>
              <a:rPr lang="en-GB" dirty="0"/>
              <a:t> AS ENO FROM </a:t>
            </a:r>
            <a:r>
              <a:rPr lang="en-GB" dirty="0" err="1"/>
              <a:t>emp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SELECT </a:t>
            </a:r>
            <a:r>
              <a:rPr lang="en-GB" dirty="0" err="1"/>
              <a:t>empno</a:t>
            </a:r>
            <a:r>
              <a:rPr lang="en-GB" dirty="0"/>
              <a:t> AS “ENO” FROM </a:t>
            </a:r>
            <a:r>
              <a:rPr lang="en-GB" dirty="0" err="1"/>
              <a:t>emp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94371" y="1825625"/>
          <a:ext cx="1959429" cy="3551214"/>
        </p:xfrm>
        <a:graphic>
          <a:graphicData uri="http://schemas.openxmlformats.org/drawingml/2006/table">
            <a:tbl>
              <a:tblPr/>
              <a:tblGrid>
                <a:gridCol w="1959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186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eno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7369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7499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7521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7566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869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7654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32514" y="4469379"/>
          <a:ext cx="2329543" cy="1866105"/>
        </p:xfrm>
        <a:graphic>
          <a:graphicData uri="http://schemas.openxmlformats.org/drawingml/2006/table">
            <a:tbl>
              <a:tblPr/>
              <a:tblGrid>
                <a:gridCol w="2329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221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ENO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21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7369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21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7499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221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7521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221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7566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PostgreSQL</a:t>
            </a:r>
            <a:r>
              <a:rPr lang="en-US" dirty="0"/>
              <a:t>, COALESCE()is used to handle NULL values.</a:t>
            </a:r>
          </a:p>
          <a:p>
            <a:r>
              <a:rPr lang="en-US" dirty="0"/>
              <a:t>COALESCE(</a:t>
            </a:r>
            <a:r>
              <a:rPr lang="en-US" dirty="0" err="1"/>
              <a:t>comm</a:t>
            </a:r>
            <a:r>
              <a:rPr lang="en-US" dirty="0"/>
              <a:t>, 0)</a:t>
            </a:r>
          </a:p>
          <a:p>
            <a:pPr marL="0" indent="0">
              <a:buNone/>
            </a:pPr>
            <a:r>
              <a:rPr lang="en-US" dirty="0"/>
              <a:t>It replaces NULL commission with 0.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empno</a:t>
            </a:r>
            <a:r>
              <a:rPr lang="en-US" dirty="0"/>
              <a:t>, COALESCE(</a:t>
            </a:r>
            <a:r>
              <a:rPr lang="en-US" dirty="0" err="1"/>
              <a:t>comm</a:t>
            </a:r>
            <a:r>
              <a:rPr lang="en-US" dirty="0"/>
              <a:t>, 0) AS commission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emp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83484" y="2030246"/>
          <a:ext cx="2460976" cy="4366960"/>
        </p:xfrm>
        <a:graphic>
          <a:graphicData uri="http://schemas.openxmlformats.org/drawingml/2006/table">
            <a:tbl>
              <a:tblPr/>
              <a:tblGrid>
                <a:gridCol w="1230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61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empno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commission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7369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7499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300.00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7521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500.00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7566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7654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1400.00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7698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7782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7788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7839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7844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0.00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7876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7900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7902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866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7934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0</a:t>
                      </a: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COALESCE with NULLIF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5771"/>
            <a:ext cx="10515600" cy="46311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COALESCE(NULLIF(</a:t>
            </a:r>
            <a:r>
              <a:rPr lang="en-US" dirty="0" err="1"/>
              <a:t>comm</a:t>
            </a:r>
            <a:r>
              <a:rPr lang="en-US" dirty="0"/>
              <a:t>, 0), 2000)</a:t>
            </a:r>
          </a:p>
          <a:p>
            <a:pPr marL="0" indent="0">
              <a:buNone/>
            </a:pPr>
            <a:r>
              <a:rPr lang="en-US" dirty="0"/>
              <a:t>Here, NULLIF(</a:t>
            </a:r>
            <a:r>
              <a:rPr lang="en-US" dirty="0" err="1"/>
              <a:t>comm</a:t>
            </a:r>
            <a:r>
              <a:rPr lang="en-US" dirty="0"/>
              <a:t>, 0) → converts 0 to NULL</a:t>
            </a:r>
          </a:p>
          <a:p>
            <a:pPr marL="0" indent="0">
              <a:buNone/>
            </a:pPr>
            <a:r>
              <a:rPr lang="en-US" dirty="0"/>
              <a:t>          COALESCE(..., 2000) → replaces NULL with 2000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1055</Words>
  <Application>Microsoft Office PowerPoint</Application>
  <PresentationFormat>Widescreen</PresentationFormat>
  <Paragraphs>170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  Operators  </vt:lpstr>
      <vt:lpstr>Types of Operators</vt:lpstr>
      <vt:lpstr>Types of SQL Operators Continued..</vt:lpstr>
      <vt:lpstr>Types of Operators Continued..</vt:lpstr>
      <vt:lpstr>Types of Operators Continued..</vt:lpstr>
      <vt:lpstr>Logical Operators continued.. </vt:lpstr>
      <vt:lpstr>Types of Operators Continued..</vt:lpstr>
      <vt:lpstr>PowerPoint Presentation</vt:lpstr>
      <vt:lpstr>Concatenation Operator</vt:lpstr>
      <vt:lpstr>Alias</vt:lpstr>
      <vt:lpstr>PowerPoint Presentation</vt:lpstr>
      <vt:lpstr>COALESCE()</vt:lpstr>
      <vt:lpstr>COALESCE with NULLIF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Select</dc:title>
  <dc:creator>Nimai Sahoo</dc:creator>
  <cp:lastModifiedBy>Shreela Dash</cp:lastModifiedBy>
  <cp:revision>52</cp:revision>
  <dcterms:created xsi:type="dcterms:W3CDTF">2024-02-17T15:36:00Z</dcterms:created>
  <dcterms:modified xsi:type="dcterms:W3CDTF">2026-09-08T09:32:24Z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062C170506214955B36614C581936B7E_12</vt:lpwstr>
  </property>
  <property fmtid="{D5CDD505-2E9C-101B-9397-08002B2CF9AE}" pid="3" name="KSOProductBuildVer">
    <vt:lpwstr>1033-12.2.0.23196</vt:lpwstr>
  </property>
</Properties>
</file>
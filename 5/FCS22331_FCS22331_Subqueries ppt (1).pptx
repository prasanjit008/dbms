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13660" y="2563444"/>
            <a:ext cx="3916679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Deepika</a:t>
            </a:r>
            <a:r>
              <a:rPr spc="-20" dirty="0"/>
              <a:t> </a:t>
            </a:r>
            <a:r>
              <a:rPr dirty="0"/>
              <a:t>R </a:t>
            </a:r>
            <a:r>
              <a:rPr spc="-20" dirty="0"/>
              <a:t>Sahu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Deepika</a:t>
            </a:r>
            <a:r>
              <a:rPr spc="-20" dirty="0"/>
              <a:t> </a:t>
            </a:r>
            <a:r>
              <a:rPr dirty="0"/>
              <a:t>R </a:t>
            </a:r>
            <a:r>
              <a:rPr spc="-20" dirty="0"/>
              <a:t>Sahu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Deepika</a:t>
            </a:r>
            <a:r>
              <a:rPr spc="-20" dirty="0"/>
              <a:t> </a:t>
            </a:r>
            <a:r>
              <a:rPr dirty="0"/>
              <a:t>R </a:t>
            </a:r>
            <a:r>
              <a:rPr spc="-20" dirty="0"/>
              <a:t>Sahu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Deepika</a:t>
            </a:r>
            <a:r>
              <a:rPr spc="-20" dirty="0"/>
              <a:t> </a:t>
            </a:r>
            <a:r>
              <a:rPr dirty="0"/>
              <a:t>R </a:t>
            </a:r>
            <a:r>
              <a:rPr spc="-20" dirty="0"/>
              <a:t>Sahu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Deepika</a:t>
            </a:r>
            <a:r>
              <a:rPr spc="-20" dirty="0"/>
              <a:t> </a:t>
            </a:r>
            <a:r>
              <a:rPr dirty="0"/>
              <a:t>R </a:t>
            </a:r>
            <a:r>
              <a:rPr spc="-20" dirty="0"/>
              <a:t>Sahu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6923" y="544195"/>
            <a:ext cx="5550153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86610"/>
            <a:ext cx="8074025" cy="4232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456340"/>
            <a:ext cx="2126615" cy="36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720"/>
              </a:lnSpc>
            </a:pPr>
            <a:r>
              <a:rPr dirty="0"/>
              <a:t>Deepika</a:t>
            </a:r>
            <a:r>
              <a:rPr spc="-20" dirty="0"/>
              <a:t> </a:t>
            </a:r>
            <a:r>
              <a:rPr dirty="0"/>
              <a:t>R </a:t>
            </a:r>
            <a:r>
              <a:rPr spc="-20" dirty="0"/>
              <a:t>Sahu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68217" y="2447735"/>
            <a:ext cx="391667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Subqueries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95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Subqueries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5500370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b="1" dirty="0">
                <a:latin typeface="Times New Roman"/>
                <a:cs typeface="Times New Roman"/>
              </a:rPr>
              <a:t>query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within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query”.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  <a:tab pos="832485" algn="l"/>
                <a:tab pos="2218055" algn="l"/>
                <a:tab pos="3658235" algn="l"/>
                <a:tab pos="4708525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nested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within statement.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5357" y="2062098"/>
            <a:ext cx="938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another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2933" y="2062098"/>
            <a:ext cx="1140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SELECT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2963" y="2976207"/>
            <a:ext cx="6665828" cy="28442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186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Types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Subqueries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6350" indent="-457834" algn="just">
              <a:lnSpc>
                <a:spcPts val="2590"/>
              </a:lnSpc>
              <a:spcBef>
                <a:spcPts val="425"/>
              </a:spcBef>
              <a:buAutoNum type="arabicPeriod"/>
              <a:tabLst>
                <a:tab pos="469900" algn="l"/>
              </a:tabLst>
            </a:pPr>
            <a:r>
              <a:rPr dirty="0"/>
              <a:t>Single–row</a:t>
            </a:r>
            <a:r>
              <a:rPr spc="229" dirty="0"/>
              <a:t> </a:t>
            </a:r>
            <a:r>
              <a:rPr dirty="0"/>
              <a:t>subqueries:</a:t>
            </a:r>
            <a:r>
              <a:rPr spc="235" dirty="0"/>
              <a:t> </a:t>
            </a:r>
            <a:r>
              <a:rPr dirty="0"/>
              <a:t>Return</a:t>
            </a:r>
            <a:r>
              <a:rPr spc="245" dirty="0"/>
              <a:t> </a:t>
            </a:r>
            <a:r>
              <a:rPr dirty="0"/>
              <a:t>only</a:t>
            </a:r>
            <a:r>
              <a:rPr spc="225" dirty="0"/>
              <a:t> </a:t>
            </a:r>
            <a:r>
              <a:rPr dirty="0"/>
              <a:t>one</a:t>
            </a:r>
            <a:r>
              <a:rPr spc="240" dirty="0"/>
              <a:t> </a:t>
            </a:r>
            <a:r>
              <a:rPr dirty="0"/>
              <a:t>row</a:t>
            </a:r>
            <a:r>
              <a:rPr spc="235" dirty="0"/>
              <a:t> </a:t>
            </a:r>
            <a:r>
              <a:rPr dirty="0"/>
              <a:t>of</a:t>
            </a:r>
            <a:r>
              <a:rPr spc="235" dirty="0"/>
              <a:t> </a:t>
            </a:r>
            <a:r>
              <a:rPr dirty="0"/>
              <a:t>result.</a:t>
            </a:r>
            <a:r>
              <a:rPr spc="235" dirty="0"/>
              <a:t> </a:t>
            </a:r>
            <a:r>
              <a:rPr spc="-20" dirty="0"/>
              <a:t>They </a:t>
            </a:r>
            <a:r>
              <a:rPr dirty="0"/>
              <a:t>mark</a:t>
            </a:r>
            <a:r>
              <a:rPr spc="520" dirty="0"/>
              <a:t> </a:t>
            </a:r>
            <a:r>
              <a:rPr dirty="0"/>
              <a:t>the</a:t>
            </a:r>
            <a:r>
              <a:rPr spc="525" dirty="0"/>
              <a:t> </a:t>
            </a:r>
            <a:r>
              <a:rPr dirty="0"/>
              <a:t>usage</a:t>
            </a:r>
            <a:r>
              <a:rPr spc="525" dirty="0"/>
              <a:t> </a:t>
            </a:r>
            <a:r>
              <a:rPr dirty="0"/>
              <a:t>of</a:t>
            </a:r>
            <a:r>
              <a:rPr spc="509" dirty="0"/>
              <a:t> </a:t>
            </a:r>
            <a:r>
              <a:rPr dirty="0"/>
              <a:t>single</a:t>
            </a:r>
            <a:r>
              <a:rPr spc="520" dirty="0"/>
              <a:t> </a:t>
            </a:r>
            <a:r>
              <a:rPr dirty="0"/>
              <a:t>row</a:t>
            </a:r>
            <a:r>
              <a:rPr spc="509" dirty="0"/>
              <a:t> </a:t>
            </a:r>
            <a:r>
              <a:rPr dirty="0"/>
              <a:t>comparison</a:t>
            </a:r>
            <a:r>
              <a:rPr spc="520" dirty="0"/>
              <a:t> </a:t>
            </a:r>
            <a:r>
              <a:rPr dirty="0"/>
              <a:t>operators,</a:t>
            </a:r>
            <a:r>
              <a:rPr spc="520" dirty="0"/>
              <a:t> </a:t>
            </a:r>
            <a:r>
              <a:rPr spc="-20" dirty="0"/>
              <a:t>when </a:t>
            </a: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WHERE</a:t>
            </a:r>
            <a:r>
              <a:rPr spc="-10" dirty="0"/>
              <a:t> conditions.</a:t>
            </a:r>
          </a:p>
          <a:p>
            <a:pPr marL="468630" marR="5080" indent="-456565" algn="just">
              <a:lnSpc>
                <a:spcPct val="90000"/>
              </a:lnSpc>
              <a:spcBef>
                <a:spcPts val="545"/>
              </a:spcBef>
              <a:buAutoNum type="arabicPeriod"/>
              <a:tabLst>
                <a:tab pos="469900" algn="l"/>
              </a:tabLst>
            </a:pPr>
            <a:r>
              <a:rPr dirty="0"/>
              <a:t>Multirow</a:t>
            </a:r>
            <a:r>
              <a:rPr spc="500" dirty="0"/>
              <a:t> </a:t>
            </a:r>
            <a:r>
              <a:rPr dirty="0"/>
              <a:t>subqueries:</a:t>
            </a:r>
            <a:r>
              <a:rPr spc="515" dirty="0"/>
              <a:t> </a:t>
            </a:r>
            <a:r>
              <a:rPr dirty="0"/>
              <a:t>Return</a:t>
            </a:r>
            <a:r>
              <a:rPr spc="515" dirty="0"/>
              <a:t> </a:t>
            </a:r>
            <a:r>
              <a:rPr dirty="0"/>
              <a:t>more</a:t>
            </a:r>
            <a:r>
              <a:rPr spc="515" dirty="0"/>
              <a:t> </a:t>
            </a:r>
            <a:r>
              <a:rPr dirty="0"/>
              <a:t>than</a:t>
            </a:r>
            <a:r>
              <a:rPr spc="509" dirty="0"/>
              <a:t> </a:t>
            </a:r>
            <a:r>
              <a:rPr dirty="0"/>
              <a:t>one</a:t>
            </a:r>
            <a:r>
              <a:rPr spc="505" dirty="0"/>
              <a:t> </a:t>
            </a:r>
            <a:r>
              <a:rPr dirty="0"/>
              <a:t>row</a:t>
            </a:r>
            <a:r>
              <a:rPr spc="505" dirty="0"/>
              <a:t> </a:t>
            </a:r>
            <a:r>
              <a:rPr dirty="0"/>
              <a:t>of</a:t>
            </a:r>
            <a:r>
              <a:rPr spc="505" dirty="0"/>
              <a:t> </a:t>
            </a:r>
            <a:r>
              <a:rPr spc="-10" dirty="0"/>
              <a:t>result. 	</a:t>
            </a:r>
            <a:r>
              <a:rPr dirty="0"/>
              <a:t>They</a:t>
            </a:r>
            <a:r>
              <a:rPr spc="25" dirty="0"/>
              <a:t> </a:t>
            </a:r>
            <a:r>
              <a:rPr dirty="0"/>
              <a:t>make</a:t>
            </a:r>
            <a:r>
              <a:rPr spc="40" dirty="0"/>
              <a:t> </a:t>
            </a:r>
            <a:r>
              <a:rPr dirty="0"/>
              <a:t>use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multiple</a:t>
            </a:r>
            <a:r>
              <a:rPr spc="35" dirty="0"/>
              <a:t> </a:t>
            </a:r>
            <a:r>
              <a:rPr dirty="0"/>
              <a:t>row</a:t>
            </a:r>
            <a:r>
              <a:rPr spc="25" dirty="0"/>
              <a:t> </a:t>
            </a:r>
            <a:r>
              <a:rPr dirty="0"/>
              <a:t>comparison</a:t>
            </a:r>
            <a:r>
              <a:rPr spc="45" dirty="0"/>
              <a:t> </a:t>
            </a:r>
            <a:r>
              <a:rPr dirty="0"/>
              <a:t>operators</a:t>
            </a:r>
            <a:r>
              <a:rPr spc="35" dirty="0"/>
              <a:t> </a:t>
            </a:r>
            <a:r>
              <a:rPr dirty="0"/>
              <a:t>like</a:t>
            </a:r>
            <a:r>
              <a:rPr spc="25" dirty="0"/>
              <a:t> </a:t>
            </a:r>
            <a:r>
              <a:rPr spc="-25" dirty="0"/>
              <a:t>IN, 	</a:t>
            </a:r>
            <a:r>
              <a:rPr dirty="0"/>
              <a:t>ANY,</a:t>
            </a:r>
            <a:r>
              <a:rPr spc="45" dirty="0"/>
              <a:t>  </a:t>
            </a:r>
            <a:r>
              <a:rPr dirty="0"/>
              <a:t>ALL.</a:t>
            </a:r>
            <a:r>
              <a:rPr spc="40" dirty="0"/>
              <a:t>  </a:t>
            </a:r>
            <a:r>
              <a:rPr dirty="0"/>
              <a:t>There</a:t>
            </a:r>
            <a:r>
              <a:rPr spc="50" dirty="0"/>
              <a:t>  </a:t>
            </a:r>
            <a:r>
              <a:rPr dirty="0"/>
              <a:t>can</a:t>
            </a:r>
            <a:r>
              <a:rPr spc="35" dirty="0"/>
              <a:t>  </a:t>
            </a:r>
            <a:r>
              <a:rPr dirty="0"/>
              <a:t>be</a:t>
            </a:r>
            <a:r>
              <a:rPr spc="45" dirty="0"/>
              <a:t>  </a:t>
            </a:r>
            <a:r>
              <a:rPr dirty="0"/>
              <a:t>sub</a:t>
            </a:r>
            <a:r>
              <a:rPr spc="45" dirty="0"/>
              <a:t>  </a:t>
            </a:r>
            <a:r>
              <a:rPr dirty="0"/>
              <a:t>queries</a:t>
            </a:r>
            <a:r>
              <a:rPr spc="45" dirty="0"/>
              <a:t>  </a:t>
            </a:r>
            <a:r>
              <a:rPr dirty="0"/>
              <a:t>returning</a:t>
            </a:r>
            <a:r>
              <a:rPr spc="50" dirty="0"/>
              <a:t>  </a:t>
            </a:r>
            <a:r>
              <a:rPr spc="-10" dirty="0"/>
              <a:t>multiple 	</a:t>
            </a:r>
            <a:r>
              <a:rPr dirty="0"/>
              <a:t>columns</a:t>
            </a:r>
            <a:r>
              <a:rPr spc="-40" dirty="0"/>
              <a:t> </a:t>
            </a:r>
            <a:r>
              <a:rPr spc="-10" dirty="0"/>
              <a:t>also.</a:t>
            </a:r>
          </a:p>
          <a:p>
            <a:pPr marL="469265" indent="-456565" algn="just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469265" algn="l"/>
              </a:tabLst>
            </a:pPr>
            <a:r>
              <a:rPr dirty="0"/>
              <a:t>Multiple-column</a:t>
            </a:r>
            <a:r>
              <a:rPr spc="-45" dirty="0"/>
              <a:t> </a:t>
            </a:r>
            <a:r>
              <a:rPr dirty="0"/>
              <a:t>subqueries:</a:t>
            </a:r>
            <a:r>
              <a:rPr spc="-40" dirty="0"/>
              <a:t> </a:t>
            </a:r>
            <a:r>
              <a:rPr dirty="0"/>
              <a:t>returns</a:t>
            </a:r>
            <a:r>
              <a:rPr spc="-45" dirty="0"/>
              <a:t> </a:t>
            </a:r>
            <a:r>
              <a:rPr dirty="0"/>
              <a:t>more</a:t>
            </a:r>
            <a:r>
              <a:rPr spc="-15" dirty="0"/>
              <a:t> </a:t>
            </a:r>
            <a:r>
              <a:rPr dirty="0"/>
              <a:t>than</a:t>
            </a:r>
            <a:r>
              <a:rPr spc="-30" dirty="0"/>
              <a:t> </a:t>
            </a:r>
            <a:r>
              <a:rPr dirty="0"/>
              <a:t>one</a:t>
            </a:r>
            <a:r>
              <a:rPr spc="-35" dirty="0"/>
              <a:t> </a:t>
            </a:r>
            <a:r>
              <a:rPr spc="-10" dirty="0"/>
              <a:t>column.</a:t>
            </a:r>
          </a:p>
          <a:p>
            <a:pPr marL="469900" marR="5080" indent="-457834" algn="just">
              <a:lnSpc>
                <a:spcPct val="90000"/>
              </a:lnSpc>
              <a:spcBef>
                <a:spcPts val="580"/>
              </a:spcBef>
              <a:buAutoNum type="arabicPeriod"/>
              <a:tabLst>
                <a:tab pos="469900" algn="l"/>
              </a:tabLst>
            </a:pPr>
            <a:r>
              <a:rPr dirty="0"/>
              <a:t>Correlated</a:t>
            </a:r>
            <a:r>
              <a:rPr spc="160" dirty="0"/>
              <a:t> </a:t>
            </a:r>
            <a:r>
              <a:rPr dirty="0"/>
              <a:t>Subqueries:</a:t>
            </a:r>
            <a:r>
              <a:rPr spc="145" dirty="0"/>
              <a:t> </a:t>
            </a:r>
            <a:r>
              <a:rPr dirty="0"/>
              <a:t>Correlated</a:t>
            </a:r>
            <a:r>
              <a:rPr spc="160" dirty="0"/>
              <a:t> </a:t>
            </a:r>
            <a:r>
              <a:rPr dirty="0"/>
              <a:t>subqueries</a:t>
            </a:r>
            <a:r>
              <a:rPr spc="160" dirty="0"/>
              <a:t> </a:t>
            </a:r>
            <a:r>
              <a:rPr dirty="0"/>
              <a:t>depend</a:t>
            </a:r>
            <a:r>
              <a:rPr spc="155" dirty="0"/>
              <a:t> </a:t>
            </a:r>
            <a:r>
              <a:rPr dirty="0"/>
              <a:t>on</a:t>
            </a:r>
            <a:r>
              <a:rPr spc="150" dirty="0"/>
              <a:t> </a:t>
            </a:r>
            <a:r>
              <a:rPr spc="-20" dirty="0"/>
              <a:t>data </a:t>
            </a:r>
            <a:r>
              <a:rPr dirty="0"/>
              <a:t>provided</a:t>
            </a:r>
            <a:r>
              <a:rPr spc="50" dirty="0"/>
              <a:t>  </a:t>
            </a:r>
            <a:r>
              <a:rPr dirty="0"/>
              <a:t>by</a:t>
            </a:r>
            <a:r>
              <a:rPr spc="50" dirty="0"/>
              <a:t>  </a:t>
            </a:r>
            <a:r>
              <a:rPr dirty="0"/>
              <a:t>the</a:t>
            </a:r>
            <a:r>
              <a:rPr spc="55" dirty="0"/>
              <a:t>  </a:t>
            </a:r>
            <a:r>
              <a:rPr dirty="0"/>
              <a:t>outer</a:t>
            </a:r>
            <a:r>
              <a:rPr spc="45" dirty="0"/>
              <a:t>  </a:t>
            </a:r>
            <a:r>
              <a:rPr dirty="0"/>
              <a:t>query.</a:t>
            </a:r>
            <a:r>
              <a:rPr spc="55" dirty="0"/>
              <a:t>  </a:t>
            </a:r>
            <a:r>
              <a:rPr dirty="0"/>
              <a:t>This</a:t>
            </a:r>
            <a:r>
              <a:rPr spc="45" dirty="0"/>
              <a:t>  </a:t>
            </a:r>
            <a:r>
              <a:rPr dirty="0"/>
              <a:t>type</a:t>
            </a:r>
            <a:r>
              <a:rPr spc="55" dirty="0"/>
              <a:t>  </a:t>
            </a:r>
            <a:r>
              <a:rPr dirty="0"/>
              <a:t>of</a:t>
            </a:r>
            <a:r>
              <a:rPr spc="50" dirty="0"/>
              <a:t>  </a:t>
            </a:r>
            <a:r>
              <a:rPr dirty="0"/>
              <a:t>subquery</a:t>
            </a:r>
            <a:r>
              <a:rPr spc="50" dirty="0"/>
              <a:t>  </a:t>
            </a:r>
            <a:r>
              <a:rPr spc="-20" dirty="0"/>
              <a:t>also </a:t>
            </a:r>
            <a:r>
              <a:rPr dirty="0"/>
              <a:t>includes</a:t>
            </a:r>
            <a:r>
              <a:rPr spc="220" dirty="0"/>
              <a:t> </a:t>
            </a:r>
            <a:r>
              <a:rPr dirty="0"/>
              <a:t>subqueries</a:t>
            </a:r>
            <a:r>
              <a:rPr spc="225" dirty="0"/>
              <a:t> </a:t>
            </a:r>
            <a:r>
              <a:rPr dirty="0"/>
              <a:t>that</a:t>
            </a:r>
            <a:r>
              <a:rPr spc="220" dirty="0"/>
              <a:t> </a:t>
            </a:r>
            <a:r>
              <a:rPr dirty="0"/>
              <a:t>use</a:t>
            </a:r>
            <a:r>
              <a:rPr spc="229" dirty="0"/>
              <a:t> </a:t>
            </a:r>
            <a:r>
              <a:rPr dirty="0"/>
              <a:t>the</a:t>
            </a:r>
            <a:r>
              <a:rPr spc="229" dirty="0"/>
              <a:t> </a:t>
            </a:r>
            <a:r>
              <a:rPr dirty="0"/>
              <a:t>EXISTS</a:t>
            </a:r>
            <a:r>
              <a:rPr spc="220" dirty="0"/>
              <a:t> </a:t>
            </a:r>
            <a:r>
              <a:rPr dirty="0"/>
              <a:t>operator</a:t>
            </a:r>
            <a:r>
              <a:rPr spc="240" dirty="0"/>
              <a:t> </a:t>
            </a:r>
            <a:r>
              <a:rPr dirty="0"/>
              <a:t>to</a:t>
            </a:r>
            <a:r>
              <a:rPr spc="215" dirty="0"/>
              <a:t> </a:t>
            </a:r>
            <a:r>
              <a:rPr dirty="0"/>
              <a:t>test</a:t>
            </a:r>
            <a:r>
              <a:rPr spc="229" dirty="0"/>
              <a:t> </a:t>
            </a:r>
            <a:r>
              <a:rPr spc="-25" dirty="0"/>
              <a:t>the </a:t>
            </a:r>
            <a:r>
              <a:rPr dirty="0"/>
              <a:t>existence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data</a:t>
            </a:r>
            <a:r>
              <a:rPr spc="-5" dirty="0"/>
              <a:t> </a:t>
            </a:r>
            <a:r>
              <a:rPr dirty="0"/>
              <a:t>rows</a:t>
            </a:r>
            <a:r>
              <a:rPr spc="-10" dirty="0"/>
              <a:t> </a:t>
            </a:r>
            <a:r>
              <a:rPr dirty="0"/>
              <a:t>satisfying</a:t>
            </a:r>
            <a:r>
              <a:rPr spc="-20" dirty="0"/>
              <a:t> </a:t>
            </a:r>
            <a:r>
              <a:rPr dirty="0"/>
              <a:t>specified</a:t>
            </a:r>
            <a:r>
              <a:rPr spc="-35" dirty="0"/>
              <a:t> </a:t>
            </a:r>
            <a:r>
              <a:rPr spc="-10" dirty="0"/>
              <a:t>criteria.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0">
              <a:lnSpc>
                <a:spcPct val="100000"/>
              </a:lnSpc>
              <a:spcBef>
                <a:spcPts val="100"/>
              </a:spcBef>
            </a:pPr>
            <a:r>
              <a:rPr dirty="0"/>
              <a:t>Single</a:t>
            </a:r>
            <a:r>
              <a:rPr spc="10" dirty="0"/>
              <a:t> </a:t>
            </a:r>
            <a:r>
              <a:rPr dirty="0"/>
              <a:t>Row</a:t>
            </a:r>
            <a:r>
              <a:rPr spc="-15" dirty="0"/>
              <a:t> </a:t>
            </a:r>
            <a:r>
              <a:rPr spc="-10" dirty="0"/>
              <a:t>Subquery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8073390" cy="396198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greater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SMITH.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Sol: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SMITH.</a:t>
            </a:r>
            <a:endParaRPr sz="2400" dirty="0">
              <a:latin typeface="Times New Roman"/>
              <a:cs typeface="Times New Roman"/>
            </a:endParaRPr>
          </a:p>
          <a:p>
            <a:pPr marL="927100" indent="-9144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92710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ename=‘SMITH’;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employees.</a:t>
            </a:r>
            <a:endParaRPr sz="2400" dirty="0">
              <a:latin typeface="Times New Roman"/>
              <a:cs typeface="Times New Roman"/>
            </a:endParaRPr>
          </a:p>
          <a:p>
            <a:pPr marL="927100" indent="-9144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927100" algn="l"/>
                <a:tab pos="1774189" algn="l"/>
                <a:tab pos="3627754" algn="l"/>
                <a:tab pos="4373245" algn="l"/>
                <a:tab pos="5053330" algn="l"/>
                <a:tab pos="5953760" algn="l"/>
                <a:tab pos="6446520" algn="l"/>
                <a:tab pos="6772275" algn="l"/>
                <a:tab pos="7722234" algn="l"/>
              </a:tabLst>
            </a:pPr>
            <a:r>
              <a:rPr sz="2400" spc="-10" dirty="0">
                <a:latin typeface="Times New Roman"/>
                <a:cs typeface="Times New Roman"/>
              </a:rPr>
              <a:t>select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empno,ename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&gt;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(select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sal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 </a:t>
            </a:r>
            <a:r>
              <a:rPr sz="2400" spc="-10" dirty="0">
                <a:latin typeface="Times New Roman"/>
                <a:cs typeface="Times New Roman"/>
              </a:rPr>
              <a:t>ename=‘SMITH’);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35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Example-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110304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23186"/>
            <a:ext cx="8073390" cy="324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004569" algn="l"/>
                <a:tab pos="1481455" algn="l"/>
                <a:tab pos="2959100" algn="l"/>
                <a:tab pos="4149090" algn="l"/>
                <a:tab pos="4560570" algn="l"/>
                <a:tab pos="5359400" algn="l"/>
                <a:tab pos="6903720" algn="l"/>
                <a:tab pos="7315200" algn="l"/>
              </a:tabLst>
            </a:pPr>
            <a:r>
              <a:rPr sz="2400" spc="-20" dirty="0">
                <a:latin typeface="Times New Roman"/>
                <a:cs typeface="Times New Roman"/>
              </a:rPr>
              <a:t>List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all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employees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working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same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department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which </a:t>
            </a:r>
            <a:r>
              <a:rPr sz="2400" dirty="0">
                <a:latin typeface="Times New Roman"/>
                <a:cs typeface="Times New Roman"/>
              </a:rPr>
              <a:t>“SMITH”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working.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Sol: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SMITH.</a:t>
            </a:r>
            <a:endParaRPr sz="2400">
              <a:latin typeface="Times New Roman"/>
              <a:cs typeface="Times New Roman"/>
            </a:endParaRPr>
          </a:p>
          <a:p>
            <a:pPr marL="812800" indent="-8001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81280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ename=‘SMITH’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812800" algn="l"/>
              </a:tabLst>
            </a:pP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working.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  <a:tabLst>
                <a:tab pos="1755775" algn="l"/>
                <a:tab pos="2795905" algn="l"/>
                <a:tab pos="3725545" algn="l"/>
                <a:tab pos="4451350" algn="l"/>
                <a:tab pos="5112385" algn="l"/>
                <a:tab pos="5995035" algn="l"/>
                <a:tab pos="6958330" algn="l"/>
                <a:tab pos="7266305" algn="l"/>
              </a:tabLst>
            </a:pPr>
            <a:r>
              <a:rPr sz="2400" spc="-10" dirty="0">
                <a:latin typeface="Times New Roman"/>
                <a:cs typeface="Times New Roman"/>
              </a:rPr>
              <a:t>select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empno,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ename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deptno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(select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ename=‘SMITH’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355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Example-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184142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50035"/>
            <a:ext cx="8072755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“ACCOUNTING”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department.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Sol: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“ACCOUNTING”</a:t>
            </a:r>
            <a:endParaRPr sz="2400">
              <a:latin typeface="Times New Roman"/>
              <a:cs typeface="Times New Roman"/>
            </a:endParaRPr>
          </a:p>
          <a:p>
            <a:pPr marL="927100" indent="-9144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92710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dept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 </a:t>
            </a:r>
            <a:r>
              <a:rPr sz="2400" spc="-10" dirty="0">
                <a:latin typeface="Times New Roman"/>
                <a:cs typeface="Times New Roman"/>
              </a:rPr>
              <a:t>dname=‘ACCOUNTING’;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working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department.</a:t>
            </a:r>
            <a:endParaRPr sz="2400">
              <a:latin typeface="Times New Roman"/>
              <a:cs typeface="Times New Roman"/>
            </a:endParaRPr>
          </a:p>
          <a:p>
            <a:pPr marL="355600" marR="5080" indent="5715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empno,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ename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(Select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dname=‘ACCOUNTING’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2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8073390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10" dirty="0">
                <a:latin typeface="Times New Roman"/>
                <a:cs typeface="Times New Roman"/>
              </a:rPr>
              <a:t> “KING”.</a:t>
            </a:r>
            <a:endParaRPr sz="2400" dirty="0">
              <a:latin typeface="Times New Roman"/>
              <a:cs typeface="Times New Roman"/>
            </a:endParaRPr>
          </a:p>
          <a:p>
            <a:pPr marL="469900" marR="6985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whose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“ALLEN”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 of</a:t>
            </a:r>
            <a:r>
              <a:rPr sz="2400" spc="-10" dirty="0">
                <a:latin typeface="Times New Roman"/>
                <a:cs typeface="Times New Roman"/>
              </a:rPr>
              <a:t> “BLAKE”.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900" algn="l"/>
              </a:tabLst>
            </a:pPr>
            <a:r>
              <a:rPr sz="2400" spc="-30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salary.</a:t>
            </a:r>
            <a:endParaRPr sz="2400" dirty="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salary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company.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whose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than</a:t>
            </a:r>
            <a:endParaRPr sz="2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department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10.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 startAt="6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salary.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2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8071484" cy="38303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75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details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 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DALLAS.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getting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minimum salary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department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senior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SMITH.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80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400" spc="-10" dirty="0">
                <a:latin typeface="Times New Roman"/>
                <a:cs typeface="Times New Roman"/>
              </a:rPr>
              <a:t> Employees.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Who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10" dirty="0">
                <a:latin typeface="Times New Roman"/>
                <a:cs typeface="Times New Roman"/>
              </a:rPr>
              <a:t> BLACK.</a:t>
            </a:r>
            <a:endParaRPr sz="24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575"/>
              </a:spcBef>
              <a:buAutoNum type="arabicPeriod" startAt="7"/>
              <a:tabLst>
                <a:tab pos="468630" algn="l"/>
                <a:tab pos="1178560" algn="l"/>
                <a:tab pos="1701164" algn="l"/>
                <a:tab pos="2898140" algn="l"/>
                <a:tab pos="3722370" algn="l"/>
                <a:tab pos="4886960" algn="l"/>
                <a:tab pos="5340985" algn="l"/>
                <a:tab pos="6722109" algn="l"/>
                <a:tab pos="7804150" algn="l"/>
              </a:tabLst>
            </a:pPr>
            <a:r>
              <a:rPr sz="2400" spc="-20" dirty="0">
                <a:latin typeface="Times New Roman"/>
                <a:cs typeface="Times New Roman"/>
              </a:rPr>
              <a:t>Find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manager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being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reported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maximum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number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employee.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834">
              <a:lnSpc>
                <a:spcPct val="100000"/>
              </a:lnSpc>
              <a:spcBef>
                <a:spcPts val="575"/>
              </a:spcBef>
              <a:buAutoNum type="arabicPeriod" startAt="13"/>
              <a:tabLst>
                <a:tab pos="469900" algn="l"/>
                <a:tab pos="1237615" algn="l"/>
                <a:tab pos="1819910" algn="l"/>
                <a:tab pos="3395979" algn="l"/>
                <a:tab pos="4535170" algn="l"/>
                <a:tab pos="5574030" algn="l"/>
                <a:tab pos="6664325" algn="l"/>
                <a:tab pos="7804150" algn="l"/>
              </a:tabLst>
            </a:pPr>
            <a:r>
              <a:rPr sz="2400" spc="-20" dirty="0">
                <a:latin typeface="Times New Roman"/>
                <a:cs typeface="Times New Roman"/>
              </a:rPr>
              <a:t>Find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department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number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having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highest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number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employees.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2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807212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output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??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ename,sal,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  <a:tab pos="1621790" algn="l"/>
                <a:tab pos="2910205" algn="l"/>
                <a:tab pos="4203700" algn="l"/>
                <a:tab pos="5217795" algn="l"/>
                <a:tab pos="6266815" algn="l"/>
                <a:tab pos="6978015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deptno=(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deptno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dept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dname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(‘SALES’,’ACCOUNTING’));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ERROR: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single-row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row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6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Multi-</a:t>
            </a:r>
            <a:r>
              <a:rPr dirty="0"/>
              <a:t>row</a:t>
            </a:r>
            <a:r>
              <a:rPr spc="-15" dirty="0"/>
              <a:t> </a:t>
            </a:r>
            <a:r>
              <a:rPr spc="-10" dirty="0"/>
              <a:t>Subqueries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8070215" cy="17081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 than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row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multiple-</a:t>
            </a:r>
            <a:r>
              <a:rPr sz="2400" dirty="0">
                <a:latin typeface="Times New Roman"/>
                <a:cs typeface="Times New Roman"/>
              </a:rPr>
              <a:t>row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comparison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2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IN,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ANY,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spc="-10" dirty="0">
                <a:latin typeface="Times New Roman"/>
                <a:cs typeface="Times New Roman"/>
              </a:rPr>
              <a:t>EXISTS.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Most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commonly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List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employees</a:t>
            </a:r>
            <a:r>
              <a:rPr spc="-10" dirty="0"/>
              <a:t> </a:t>
            </a:r>
            <a:r>
              <a:rPr dirty="0"/>
              <a:t>working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SALES</a:t>
            </a:r>
            <a:r>
              <a:rPr spc="-2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ACCOUNTING departments.</a:t>
            </a: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pc="-10" dirty="0"/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SELECT</a:t>
            </a:r>
            <a:r>
              <a:rPr spc="-70" dirty="0"/>
              <a:t> </a:t>
            </a:r>
            <a:r>
              <a:rPr dirty="0"/>
              <a:t>ename</a:t>
            </a:r>
            <a:r>
              <a:rPr spc="-10" dirty="0"/>
              <a:t> </a:t>
            </a:r>
            <a:r>
              <a:rPr dirty="0"/>
              <a:t>,sal,</a:t>
            </a:r>
            <a:r>
              <a:rPr spc="-45" dirty="0"/>
              <a:t> </a:t>
            </a:r>
            <a:r>
              <a:rPr dirty="0"/>
              <a:t>deptno</a:t>
            </a:r>
            <a:r>
              <a:rPr spc="-20" dirty="0"/>
              <a:t> </a:t>
            </a:r>
            <a:r>
              <a:rPr dirty="0"/>
              <a:t>FROM </a:t>
            </a:r>
            <a:r>
              <a:rPr spc="-25" dirty="0"/>
              <a:t>emp</a:t>
            </a:r>
          </a:p>
          <a:p>
            <a:pPr marL="355600" marR="698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  <a:tab pos="5375910" algn="l"/>
              </a:tabLst>
            </a:pPr>
            <a:r>
              <a:rPr dirty="0"/>
              <a:t>WHERE</a:t>
            </a:r>
            <a:r>
              <a:rPr spc="210" dirty="0"/>
              <a:t> </a:t>
            </a:r>
            <a:r>
              <a:rPr dirty="0"/>
              <a:t>deptno</a:t>
            </a:r>
            <a:r>
              <a:rPr spc="235" dirty="0"/>
              <a:t> </a:t>
            </a:r>
            <a:r>
              <a:rPr dirty="0"/>
              <a:t>IN</a:t>
            </a:r>
            <a:r>
              <a:rPr spc="215" dirty="0"/>
              <a:t> </a:t>
            </a:r>
            <a:r>
              <a:rPr dirty="0"/>
              <a:t>(</a:t>
            </a:r>
            <a:r>
              <a:rPr spc="210" dirty="0"/>
              <a:t> </a:t>
            </a:r>
            <a:r>
              <a:rPr dirty="0"/>
              <a:t>SELECT</a:t>
            </a:r>
            <a:r>
              <a:rPr spc="170" dirty="0"/>
              <a:t> </a:t>
            </a:r>
            <a:r>
              <a:rPr spc="-10" dirty="0"/>
              <a:t>deptno</a:t>
            </a:r>
            <a:r>
              <a:rPr dirty="0"/>
              <a:t>	FROM</a:t>
            </a:r>
            <a:r>
              <a:rPr spc="190" dirty="0"/>
              <a:t> </a:t>
            </a:r>
            <a:r>
              <a:rPr dirty="0"/>
              <a:t>dept</a:t>
            </a:r>
            <a:r>
              <a:rPr spc="200" dirty="0"/>
              <a:t> </a:t>
            </a:r>
            <a:r>
              <a:rPr spc="-10" dirty="0"/>
              <a:t>WHERE </a:t>
            </a:r>
            <a:r>
              <a:rPr dirty="0"/>
              <a:t>dname</a:t>
            </a:r>
            <a:r>
              <a:rPr spc="-2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(‘SALES’,’ACCOUNTING’));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10" dirty="0"/>
              <a:t> </a:t>
            </a:r>
            <a:r>
              <a:rPr dirty="0"/>
              <a:t>of</a:t>
            </a:r>
            <a:r>
              <a:rPr spc="-204" dirty="0"/>
              <a:t> </a:t>
            </a:r>
            <a:r>
              <a:rPr dirty="0"/>
              <a:t>ANY</a:t>
            </a:r>
            <a:r>
              <a:rPr spc="-140" dirty="0"/>
              <a:t> </a:t>
            </a:r>
            <a:r>
              <a:rPr spc="-10" dirty="0"/>
              <a:t>operator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List</a:t>
            </a:r>
            <a:r>
              <a:rPr spc="275" dirty="0"/>
              <a:t> </a:t>
            </a:r>
            <a:r>
              <a:rPr dirty="0"/>
              <a:t>the</a:t>
            </a:r>
            <a:r>
              <a:rPr spc="285" dirty="0"/>
              <a:t> </a:t>
            </a:r>
            <a:r>
              <a:rPr dirty="0"/>
              <a:t>employees</a:t>
            </a:r>
            <a:r>
              <a:rPr spc="295" dirty="0"/>
              <a:t> </a:t>
            </a:r>
            <a:r>
              <a:rPr dirty="0"/>
              <a:t>who</a:t>
            </a:r>
            <a:r>
              <a:rPr spc="280" dirty="0"/>
              <a:t> </a:t>
            </a:r>
            <a:r>
              <a:rPr dirty="0"/>
              <a:t>are</a:t>
            </a:r>
            <a:r>
              <a:rPr spc="285" dirty="0"/>
              <a:t> </a:t>
            </a:r>
            <a:r>
              <a:rPr dirty="0"/>
              <a:t>not</a:t>
            </a:r>
            <a:r>
              <a:rPr spc="290" dirty="0"/>
              <a:t> </a:t>
            </a:r>
            <a:r>
              <a:rPr dirty="0"/>
              <a:t>in</a:t>
            </a:r>
            <a:r>
              <a:rPr spc="275" dirty="0"/>
              <a:t> </a:t>
            </a:r>
            <a:r>
              <a:rPr dirty="0"/>
              <a:t>department</a:t>
            </a:r>
            <a:r>
              <a:rPr spc="290" dirty="0"/>
              <a:t> </a:t>
            </a:r>
            <a:r>
              <a:rPr dirty="0"/>
              <a:t>10</a:t>
            </a:r>
            <a:r>
              <a:rPr spc="290" dirty="0"/>
              <a:t> </a:t>
            </a:r>
            <a:r>
              <a:rPr dirty="0"/>
              <a:t>and</a:t>
            </a:r>
            <a:r>
              <a:rPr spc="290" dirty="0"/>
              <a:t> </a:t>
            </a:r>
            <a:r>
              <a:rPr spc="-10" dirty="0"/>
              <a:t>whose </a:t>
            </a:r>
            <a:r>
              <a:rPr dirty="0"/>
              <a:t>salary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less</a:t>
            </a:r>
            <a:r>
              <a:rPr spc="-20" dirty="0"/>
              <a:t> </a:t>
            </a:r>
            <a:r>
              <a:rPr dirty="0"/>
              <a:t>than</a:t>
            </a:r>
            <a:r>
              <a:rPr spc="-1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any</a:t>
            </a:r>
            <a:r>
              <a:rPr spc="-20" dirty="0"/>
              <a:t> </a:t>
            </a:r>
            <a:r>
              <a:rPr dirty="0"/>
              <a:t>employee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department</a:t>
            </a:r>
            <a:r>
              <a:rPr spc="-20" dirty="0"/>
              <a:t> </a:t>
            </a:r>
            <a:r>
              <a:rPr spc="-25" dirty="0"/>
              <a:t>10.</a:t>
            </a: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pc="-25" dirty="0"/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SELECT</a:t>
            </a:r>
            <a:r>
              <a:rPr spc="-70" dirty="0"/>
              <a:t> </a:t>
            </a:r>
            <a:r>
              <a:rPr dirty="0"/>
              <a:t>ename</a:t>
            </a:r>
            <a:r>
              <a:rPr spc="-10" dirty="0"/>
              <a:t> </a:t>
            </a:r>
            <a:r>
              <a:rPr dirty="0"/>
              <a:t>,sal,</a:t>
            </a:r>
            <a:r>
              <a:rPr spc="-45" dirty="0"/>
              <a:t> </a:t>
            </a:r>
            <a:r>
              <a:rPr dirty="0"/>
              <a:t>deptno</a:t>
            </a:r>
            <a:r>
              <a:rPr spc="-20" dirty="0"/>
              <a:t> </a:t>
            </a:r>
            <a:r>
              <a:rPr dirty="0"/>
              <a:t>FROM </a:t>
            </a:r>
            <a:r>
              <a:rPr spc="-25" dirty="0"/>
              <a:t>emp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1580515" algn="l"/>
                <a:tab pos="2063750" algn="l"/>
                <a:tab pos="2379980" algn="l"/>
                <a:tab pos="3317240" algn="l"/>
                <a:tab pos="3562350" algn="l"/>
                <a:tab pos="4817110" algn="l"/>
                <a:tab pos="5299710" algn="l"/>
                <a:tab pos="6307455" algn="l"/>
                <a:tab pos="6975475" algn="l"/>
              </a:tabLst>
            </a:pPr>
            <a:r>
              <a:rPr spc="-10" dirty="0"/>
              <a:t>WHERE</a:t>
            </a:r>
            <a:r>
              <a:rPr dirty="0"/>
              <a:t>	</a:t>
            </a:r>
            <a:r>
              <a:rPr spc="-25" dirty="0"/>
              <a:t>sal</a:t>
            </a:r>
            <a:r>
              <a:rPr dirty="0"/>
              <a:t>	</a:t>
            </a:r>
            <a:r>
              <a:rPr spc="-50" dirty="0"/>
              <a:t>&lt;</a:t>
            </a:r>
            <a:r>
              <a:rPr dirty="0"/>
              <a:t>	</a:t>
            </a:r>
            <a:r>
              <a:rPr spc="-25" dirty="0"/>
              <a:t>ANY</a:t>
            </a:r>
            <a:r>
              <a:rPr dirty="0"/>
              <a:t>	</a:t>
            </a:r>
            <a:r>
              <a:rPr spc="-50" dirty="0"/>
              <a:t>(</a:t>
            </a:r>
            <a:r>
              <a:rPr dirty="0"/>
              <a:t>	</a:t>
            </a:r>
            <a:r>
              <a:rPr spc="-10" dirty="0"/>
              <a:t>SELECT</a:t>
            </a:r>
            <a:r>
              <a:rPr dirty="0"/>
              <a:t>	</a:t>
            </a:r>
            <a:r>
              <a:rPr spc="-25" dirty="0"/>
              <a:t>sal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25" dirty="0"/>
              <a:t>emp</a:t>
            </a:r>
            <a:r>
              <a:rPr dirty="0"/>
              <a:t>	</a:t>
            </a:r>
            <a:r>
              <a:rPr spc="-10" dirty="0"/>
              <a:t>WHERE</a:t>
            </a:r>
          </a:p>
          <a:p>
            <a:pPr marL="355600">
              <a:lnSpc>
                <a:spcPct val="100000"/>
              </a:lnSpc>
            </a:pPr>
            <a:r>
              <a:rPr dirty="0"/>
              <a:t>deptno=10</a:t>
            </a:r>
            <a:r>
              <a:rPr spc="-40" dirty="0"/>
              <a:t> </a:t>
            </a:r>
            <a:r>
              <a:rPr dirty="0"/>
              <a:t>)</a:t>
            </a:r>
            <a:r>
              <a:rPr spc="-14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deptno</a:t>
            </a:r>
            <a:r>
              <a:rPr spc="-20" dirty="0"/>
              <a:t> </a:t>
            </a:r>
            <a:r>
              <a:rPr dirty="0"/>
              <a:t>&lt;&gt;</a:t>
            </a:r>
            <a:r>
              <a:rPr spc="-25" dirty="0"/>
              <a:t> 10;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1855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45" dirty="0"/>
              <a:t> </a:t>
            </a:r>
            <a:r>
              <a:rPr dirty="0"/>
              <a:t>of</a:t>
            </a:r>
            <a:r>
              <a:rPr spc="-225" dirty="0"/>
              <a:t> </a:t>
            </a:r>
            <a:r>
              <a:rPr dirty="0"/>
              <a:t>ALL</a:t>
            </a:r>
            <a:r>
              <a:rPr spc="-165" dirty="0"/>
              <a:t> </a:t>
            </a:r>
            <a:r>
              <a:rPr spc="-10" dirty="0"/>
              <a:t>operator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List</a:t>
            </a:r>
            <a:r>
              <a:rPr spc="275" dirty="0"/>
              <a:t> </a:t>
            </a:r>
            <a:r>
              <a:rPr dirty="0"/>
              <a:t>the</a:t>
            </a:r>
            <a:r>
              <a:rPr spc="285" dirty="0"/>
              <a:t> </a:t>
            </a:r>
            <a:r>
              <a:rPr dirty="0"/>
              <a:t>employees</a:t>
            </a:r>
            <a:r>
              <a:rPr spc="295" dirty="0"/>
              <a:t> </a:t>
            </a:r>
            <a:r>
              <a:rPr dirty="0"/>
              <a:t>who</a:t>
            </a:r>
            <a:r>
              <a:rPr spc="280" dirty="0"/>
              <a:t> </a:t>
            </a:r>
            <a:r>
              <a:rPr dirty="0"/>
              <a:t>are</a:t>
            </a:r>
            <a:r>
              <a:rPr spc="285" dirty="0"/>
              <a:t> </a:t>
            </a:r>
            <a:r>
              <a:rPr dirty="0"/>
              <a:t>not</a:t>
            </a:r>
            <a:r>
              <a:rPr spc="290" dirty="0"/>
              <a:t> </a:t>
            </a:r>
            <a:r>
              <a:rPr dirty="0"/>
              <a:t>in</a:t>
            </a:r>
            <a:r>
              <a:rPr spc="275" dirty="0"/>
              <a:t> </a:t>
            </a:r>
            <a:r>
              <a:rPr dirty="0"/>
              <a:t>department</a:t>
            </a:r>
            <a:r>
              <a:rPr spc="290" dirty="0"/>
              <a:t> </a:t>
            </a:r>
            <a:r>
              <a:rPr dirty="0"/>
              <a:t>10</a:t>
            </a:r>
            <a:r>
              <a:rPr spc="290" dirty="0"/>
              <a:t> </a:t>
            </a:r>
            <a:r>
              <a:rPr dirty="0"/>
              <a:t>and</a:t>
            </a:r>
            <a:r>
              <a:rPr spc="290" dirty="0"/>
              <a:t> </a:t>
            </a:r>
            <a:r>
              <a:rPr spc="-10" dirty="0"/>
              <a:t>whose 	</a:t>
            </a:r>
            <a:r>
              <a:rPr dirty="0"/>
              <a:t>salary</a:t>
            </a:r>
            <a:r>
              <a:rPr spc="-2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less</a:t>
            </a:r>
            <a:r>
              <a:rPr spc="-10" dirty="0"/>
              <a:t> </a:t>
            </a:r>
            <a:r>
              <a:rPr dirty="0"/>
              <a:t>than</a:t>
            </a:r>
            <a:r>
              <a:rPr spc="-15" dirty="0"/>
              <a:t> </a:t>
            </a:r>
            <a:r>
              <a:rPr dirty="0"/>
              <a:t>the salary</a:t>
            </a:r>
            <a:r>
              <a:rPr spc="-1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employees</a:t>
            </a:r>
            <a:r>
              <a:rPr spc="-1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department 	</a:t>
            </a:r>
            <a:r>
              <a:rPr spc="-25" dirty="0"/>
              <a:t>10.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SELECT</a:t>
            </a:r>
            <a:r>
              <a:rPr spc="-70" dirty="0"/>
              <a:t> </a:t>
            </a:r>
            <a:r>
              <a:rPr dirty="0"/>
              <a:t>ename</a:t>
            </a:r>
            <a:r>
              <a:rPr spc="-10" dirty="0"/>
              <a:t> </a:t>
            </a:r>
            <a:r>
              <a:rPr dirty="0"/>
              <a:t>,sal,</a:t>
            </a:r>
            <a:r>
              <a:rPr spc="-40" dirty="0"/>
              <a:t> </a:t>
            </a:r>
            <a:r>
              <a:rPr dirty="0"/>
              <a:t>deptno</a:t>
            </a:r>
            <a:r>
              <a:rPr spc="-35" dirty="0"/>
              <a:t> </a:t>
            </a:r>
            <a:r>
              <a:rPr dirty="0"/>
              <a:t>FROM </a:t>
            </a:r>
            <a:r>
              <a:rPr spc="-25" dirty="0"/>
              <a:t>emp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1626235" algn="l"/>
                <a:tab pos="2153920" algn="l"/>
                <a:tab pos="2515235" algn="l"/>
                <a:tab pos="3283585" algn="l"/>
                <a:tab pos="3573145" algn="l"/>
                <a:tab pos="4871720" algn="l"/>
                <a:tab pos="5398770" algn="l"/>
                <a:tab pos="6452235" algn="l"/>
              </a:tabLst>
            </a:pPr>
            <a:r>
              <a:rPr spc="-10" dirty="0"/>
              <a:t>WHERE</a:t>
            </a:r>
            <a:r>
              <a:rPr dirty="0"/>
              <a:t>	</a:t>
            </a:r>
            <a:r>
              <a:rPr spc="-25" dirty="0"/>
              <a:t>sal</a:t>
            </a:r>
            <a:r>
              <a:rPr dirty="0"/>
              <a:t>	</a:t>
            </a:r>
            <a:r>
              <a:rPr spc="-50" dirty="0"/>
              <a:t>&lt;</a:t>
            </a:r>
            <a:r>
              <a:rPr dirty="0"/>
              <a:t>	</a:t>
            </a:r>
            <a:r>
              <a:rPr spc="-25" dirty="0"/>
              <a:t>ALL</a:t>
            </a:r>
            <a:r>
              <a:rPr dirty="0"/>
              <a:t>	</a:t>
            </a:r>
            <a:r>
              <a:rPr spc="-50" dirty="0"/>
              <a:t>(</a:t>
            </a:r>
            <a:r>
              <a:rPr dirty="0"/>
              <a:t>	</a:t>
            </a:r>
            <a:r>
              <a:rPr spc="-10" dirty="0"/>
              <a:t>SELECT</a:t>
            </a:r>
            <a:r>
              <a:rPr dirty="0"/>
              <a:t>	</a:t>
            </a:r>
            <a:r>
              <a:rPr spc="-25" dirty="0"/>
              <a:t>sal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empWHERE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/>
              <a:t>deptno=10</a:t>
            </a:r>
            <a:r>
              <a:rPr spc="-40" dirty="0"/>
              <a:t> </a:t>
            </a:r>
            <a:r>
              <a:rPr dirty="0"/>
              <a:t>)AND deptno</a:t>
            </a:r>
            <a:r>
              <a:rPr spc="-20" dirty="0"/>
              <a:t> </a:t>
            </a:r>
            <a:r>
              <a:rPr dirty="0"/>
              <a:t>&lt;&gt;</a:t>
            </a:r>
            <a:r>
              <a:rPr spc="-25" dirty="0"/>
              <a:t> 10;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-20" dirty="0"/>
              <a:t> </a:t>
            </a:r>
            <a:r>
              <a:rPr dirty="0"/>
              <a:t>Column</a:t>
            </a:r>
            <a:r>
              <a:rPr spc="-20" dirty="0"/>
              <a:t> </a:t>
            </a:r>
            <a:r>
              <a:rPr dirty="0"/>
              <a:t>Sub</a:t>
            </a:r>
            <a:r>
              <a:rPr spc="-20" dirty="0"/>
              <a:t> </a:t>
            </a:r>
            <a:r>
              <a:rPr spc="-10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8074025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multiple-</a:t>
            </a:r>
            <a:r>
              <a:rPr sz="2400" dirty="0">
                <a:latin typeface="Times New Roman"/>
                <a:cs typeface="Times New Roman"/>
              </a:rPr>
              <a:t>column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column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outer</a:t>
            </a:r>
            <a:r>
              <a:rPr sz="2400" spc="-10" dirty="0">
                <a:latin typeface="Times New Roman"/>
                <a:cs typeface="Times New Roman"/>
              </a:rPr>
              <a:t> query.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667000"/>
            <a:ext cx="7539228" cy="33345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99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7802245" cy="39763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Finds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highest-paid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department.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ename,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(deptno,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 (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max(sal)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GROUP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);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Finds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lowest-paid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employee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manager.</a:t>
            </a:r>
            <a:endParaRPr sz="2400" dirty="0">
              <a:latin typeface="Times New Roman"/>
              <a:cs typeface="Times New Roman"/>
            </a:endParaRPr>
          </a:p>
          <a:p>
            <a:pPr marL="927100" indent="-9144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92710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empno,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ename,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237865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(mgr,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sal)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(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mgr,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min(sal)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GROUP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mgr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);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5030">
              <a:lnSpc>
                <a:spcPct val="100000"/>
              </a:lnSpc>
              <a:spcBef>
                <a:spcPts val="100"/>
              </a:spcBef>
            </a:pPr>
            <a:r>
              <a:rPr dirty="0"/>
              <a:t>Correlated</a:t>
            </a:r>
            <a:r>
              <a:rPr spc="-145" dirty="0"/>
              <a:t> </a:t>
            </a:r>
            <a:r>
              <a:rPr spc="-10" dirty="0"/>
              <a:t>Subquery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8072755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correlated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 is 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 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inner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	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provided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outer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query.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means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	</a:t>
            </a:r>
            <a:r>
              <a:rPr sz="2400" dirty="0">
                <a:latin typeface="Times New Roman"/>
                <a:cs typeface="Times New Roman"/>
              </a:rPr>
              <a:t>correlated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subquery,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inner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executed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repeatedly, 	</a:t>
            </a:r>
            <a:r>
              <a:rPr sz="2400" dirty="0">
                <a:latin typeface="Times New Roman"/>
                <a:cs typeface="Times New Roman"/>
              </a:rPr>
              <a:t>once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row 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might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query.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Correlated</a:t>
            </a:r>
            <a:r>
              <a:rPr sz="2400" spc="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subqueries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5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produce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</a:t>
            </a:r>
            <a:r>
              <a:rPr sz="2400" spc="50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tables</a:t>
            </a:r>
            <a:r>
              <a:rPr sz="2400" spc="5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5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answer 	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management</a:t>
            </a:r>
            <a:r>
              <a:rPr sz="2400" spc="-10" dirty="0">
                <a:latin typeface="Times New Roman"/>
                <a:cs typeface="Times New Roman"/>
              </a:rPr>
              <a:t> questions.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2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Contd..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8072755" cy="207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277620" algn="l"/>
                <a:tab pos="1673860" algn="l"/>
                <a:tab pos="2207260" algn="l"/>
                <a:tab pos="3548379" algn="l"/>
                <a:tab pos="4443730" algn="l"/>
                <a:tab pos="6049645" algn="l"/>
                <a:tab pos="6649084" algn="l"/>
                <a:tab pos="7182484" algn="l"/>
              </a:tabLst>
            </a:pPr>
            <a:r>
              <a:rPr sz="2400" spc="-10" dirty="0">
                <a:latin typeface="Times New Roman"/>
                <a:cs typeface="Times New Roman"/>
              </a:rPr>
              <a:t>Query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list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employee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name,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department,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highest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department.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ename,deptno,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001645" algn="l"/>
              </a:tabLst>
            </a:pP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SELECT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max(sal)</a:t>
            </a:r>
            <a:r>
              <a:rPr sz="2400" b="1" dirty="0">
                <a:latin typeface="Times New Roman"/>
                <a:cs typeface="Times New Roman"/>
              </a:rPr>
              <a:t>	FROM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emp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e1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5670550" algn="l"/>
              </a:tabLst>
            </a:pPr>
            <a:r>
              <a:rPr sz="2400" b="1" dirty="0">
                <a:latin typeface="Times New Roman"/>
                <a:cs typeface="Times New Roman"/>
              </a:rPr>
              <a:t>WHERE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e1.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deptno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=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e.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deptno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)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HSAL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e;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8072755" cy="324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List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employees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whose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salaries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exceed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department 	average.</a:t>
            </a:r>
            <a:endParaRPr sz="2400" dirty="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ename,sal</a:t>
            </a:r>
            <a:r>
              <a:rPr sz="2400" spc="5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emp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x</a:t>
            </a:r>
            <a:endParaRPr sz="2400" dirty="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SELECT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AVG(sal)</a:t>
            </a:r>
            <a:r>
              <a:rPr sz="2400" spc="5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endParaRPr sz="2400" dirty="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x.deptno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);</a:t>
            </a:r>
            <a:endParaRPr sz="2400" dirty="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For  each  row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table,  the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parent</a:t>
            </a:r>
            <a:r>
              <a:rPr sz="2400" spc="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query  uses 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correlated</a:t>
            </a:r>
            <a:r>
              <a:rPr sz="2400" spc="3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subquery</a:t>
            </a:r>
            <a:r>
              <a:rPr sz="2400" spc="3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compute</a:t>
            </a:r>
            <a:r>
              <a:rPr sz="2400" spc="3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3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salary</a:t>
            </a:r>
            <a:r>
              <a:rPr sz="2400" spc="335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for 	</a:t>
            </a:r>
            <a:r>
              <a:rPr sz="2400" dirty="0">
                <a:latin typeface="Times New Roman"/>
                <a:cs typeface="Times New Roman"/>
              </a:rPr>
              <a:t>members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department.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5" dirty="0"/>
              <a:t> </a:t>
            </a:r>
            <a:r>
              <a:rPr dirty="0"/>
              <a:t>Exists </a:t>
            </a:r>
            <a:r>
              <a:rPr spc="-10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807275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Used with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correlated subqueries 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existence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rows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subquery.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TRUE,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row.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Returns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FALSE,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subquery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found.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Find</a:t>
            </a:r>
            <a:r>
              <a:rPr spc="210" dirty="0"/>
              <a:t> </a:t>
            </a:r>
            <a:r>
              <a:rPr dirty="0"/>
              <a:t>all</a:t>
            </a:r>
            <a:r>
              <a:rPr spc="215" dirty="0"/>
              <a:t> </a:t>
            </a:r>
            <a:r>
              <a:rPr dirty="0"/>
              <a:t>employees</a:t>
            </a:r>
            <a:r>
              <a:rPr spc="220" dirty="0"/>
              <a:t> </a:t>
            </a:r>
            <a:r>
              <a:rPr dirty="0"/>
              <a:t>who</a:t>
            </a:r>
            <a:r>
              <a:rPr spc="215" dirty="0"/>
              <a:t> </a:t>
            </a:r>
            <a:r>
              <a:rPr dirty="0"/>
              <a:t>have</a:t>
            </a:r>
            <a:r>
              <a:rPr spc="220" dirty="0"/>
              <a:t> </a:t>
            </a:r>
            <a:r>
              <a:rPr dirty="0"/>
              <a:t>at</a:t>
            </a:r>
            <a:r>
              <a:rPr spc="210" dirty="0"/>
              <a:t> </a:t>
            </a:r>
            <a:r>
              <a:rPr dirty="0"/>
              <a:t>least</a:t>
            </a:r>
            <a:r>
              <a:rPr spc="220" dirty="0"/>
              <a:t> </a:t>
            </a:r>
            <a:r>
              <a:rPr dirty="0"/>
              <a:t>one</a:t>
            </a:r>
            <a:r>
              <a:rPr spc="215" dirty="0"/>
              <a:t> </a:t>
            </a:r>
            <a:r>
              <a:rPr dirty="0"/>
              <a:t>person</a:t>
            </a:r>
            <a:r>
              <a:rPr spc="215" dirty="0"/>
              <a:t> </a:t>
            </a:r>
            <a:r>
              <a:rPr dirty="0"/>
              <a:t>reporting</a:t>
            </a:r>
            <a:r>
              <a:rPr spc="210" dirty="0"/>
              <a:t> </a:t>
            </a:r>
            <a:r>
              <a:rPr spc="-25" dirty="0"/>
              <a:t>to </a:t>
            </a:r>
            <a:r>
              <a:rPr spc="-10" dirty="0"/>
              <a:t>them.</a:t>
            </a:r>
          </a:p>
          <a:p>
            <a:pPr marL="355600" marR="762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  <a:tab pos="1608455" algn="l"/>
                <a:tab pos="3451225" algn="l"/>
                <a:tab pos="4457065" algn="l"/>
                <a:tab pos="5123180" algn="l"/>
                <a:tab pos="5556250" algn="l"/>
                <a:tab pos="6779895" algn="l"/>
                <a:tab pos="7956550" algn="l"/>
              </a:tabLst>
            </a:pPr>
            <a:r>
              <a:rPr spc="-10" dirty="0"/>
              <a:t>SELECT</a:t>
            </a:r>
            <a:r>
              <a:rPr dirty="0"/>
              <a:t>	</a:t>
            </a:r>
            <a:r>
              <a:rPr spc="-10" dirty="0"/>
              <a:t>empno,ename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25" dirty="0"/>
              <a:t>emp</a:t>
            </a:r>
            <a:r>
              <a:rPr dirty="0"/>
              <a:t>	</a:t>
            </a:r>
            <a:r>
              <a:rPr spc="-25" dirty="0"/>
              <a:t>e1</a:t>
            </a:r>
            <a:r>
              <a:rPr dirty="0"/>
              <a:t>	</a:t>
            </a:r>
            <a:r>
              <a:rPr spc="-10" dirty="0"/>
              <a:t>WHERE</a:t>
            </a:r>
            <a:r>
              <a:rPr dirty="0"/>
              <a:t>	</a:t>
            </a:r>
            <a:r>
              <a:rPr spc="-10" dirty="0"/>
              <a:t>EXISTS</a:t>
            </a:r>
            <a:r>
              <a:rPr dirty="0"/>
              <a:t>	</a:t>
            </a:r>
            <a:r>
              <a:rPr spc="-50" dirty="0"/>
              <a:t>( </a:t>
            </a:r>
            <a:r>
              <a:rPr dirty="0"/>
              <a:t>SELECT</a:t>
            </a:r>
            <a:r>
              <a:rPr spc="-85" dirty="0"/>
              <a:t> </a:t>
            </a:r>
            <a:r>
              <a:rPr spc="-20" dirty="0"/>
              <a:t>‘X’</a:t>
            </a:r>
            <a:r>
              <a:rPr spc="-180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dirty="0"/>
              <a:t>emp</a:t>
            </a:r>
            <a:r>
              <a:rPr spc="-55" dirty="0"/>
              <a:t> </a:t>
            </a:r>
            <a:r>
              <a:rPr dirty="0"/>
              <a:t>WHERE</a:t>
            </a:r>
            <a:r>
              <a:rPr spc="-5" dirty="0"/>
              <a:t> </a:t>
            </a:r>
            <a:r>
              <a:rPr dirty="0"/>
              <a:t>mgrid=</a:t>
            </a:r>
            <a:r>
              <a:rPr spc="-20" dirty="0"/>
              <a:t> </a:t>
            </a:r>
            <a:r>
              <a:rPr spc="-10" dirty="0"/>
              <a:t>e1.empno);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inner</a:t>
            </a:r>
            <a:r>
              <a:rPr spc="-15" dirty="0"/>
              <a:t> </a:t>
            </a:r>
            <a:r>
              <a:rPr dirty="0"/>
              <a:t>query</a:t>
            </a:r>
            <a:r>
              <a:rPr spc="-25" dirty="0"/>
              <a:t> </a:t>
            </a:r>
            <a:r>
              <a:rPr dirty="0"/>
              <a:t>doesn’t</a:t>
            </a:r>
            <a:r>
              <a:rPr spc="-30" dirty="0"/>
              <a:t> </a:t>
            </a:r>
            <a:r>
              <a:rPr dirty="0"/>
              <a:t>need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return</a:t>
            </a:r>
            <a:r>
              <a:rPr spc="-35" dirty="0"/>
              <a:t> </a:t>
            </a:r>
            <a:r>
              <a:rPr dirty="0"/>
              <a:t>any</a:t>
            </a:r>
            <a:r>
              <a:rPr spc="-20" dirty="0"/>
              <a:t> </a:t>
            </a:r>
            <a:r>
              <a:rPr spc="-10" dirty="0"/>
              <a:t>value.</a:t>
            </a:r>
          </a:p>
          <a:p>
            <a:pPr marL="355600" marR="5715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220" dirty="0"/>
              <a:t> </a:t>
            </a:r>
            <a:r>
              <a:rPr dirty="0"/>
              <a:t>search</a:t>
            </a:r>
            <a:r>
              <a:rPr spc="215" dirty="0"/>
              <a:t> </a:t>
            </a:r>
            <a:r>
              <a:rPr dirty="0"/>
              <a:t>in</a:t>
            </a:r>
            <a:r>
              <a:rPr spc="225" dirty="0"/>
              <a:t> </a:t>
            </a:r>
            <a:r>
              <a:rPr dirty="0"/>
              <a:t>inner</a:t>
            </a:r>
            <a:r>
              <a:rPr spc="229" dirty="0"/>
              <a:t> </a:t>
            </a:r>
            <a:r>
              <a:rPr dirty="0"/>
              <a:t>query</a:t>
            </a:r>
            <a:r>
              <a:rPr spc="220" dirty="0"/>
              <a:t> </a:t>
            </a:r>
            <a:r>
              <a:rPr dirty="0"/>
              <a:t>doesn’t</a:t>
            </a:r>
            <a:r>
              <a:rPr spc="220" dirty="0"/>
              <a:t> </a:t>
            </a:r>
            <a:r>
              <a:rPr dirty="0"/>
              <a:t>continue</a:t>
            </a:r>
            <a:r>
              <a:rPr spc="235" dirty="0"/>
              <a:t> </a:t>
            </a:r>
            <a:r>
              <a:rPr dirty="0"/>
              <a:t>when</a:t>
            </a:r>
            <a:r>
              <a:rPr spc="215" dirty="0"/>
              <a:t> </a:t>
            </a:r>
            <a:r>
              <a:rPr dirty="0"/>
              <a:t>at</a:t>
            </a:r>
            <a:r>
              <a:rPr spc="215" dirty="0"/>
              <a:t> </a:t>
            </a:r>
            <a:r>
              <a:rPr dirty="0"/>
              <a:t>least</a:t>
            </a:r>
            <a:r>
              <a:rPr spc="229" dirty="0"/>
              <a:t> </a:t>
            </a:r>
            <a:r>
              <a:rPr spc="-25" dirty="0"/>
              <a:t>one </a:t>
            </a:r>
            <a:r>
              <a:rPr dirty="0"/>
              <a:t>match</a:t>
            </a:r>
            <a:r>
              <a:rPr spc="-25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spc="-10" dirty="0"/>
              <a:t>found.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dirty="0"/>
              <a:t>Alternative</a:t>
            </a:r>
            <a:r>
              <a:rPr spc="-80" dirty="0"/>
              <a:t> </a:t>
            </a:r>
            <a:r>
              <a:rPr dirty="0"/>
              <a:t>Exists</a:t>
            </a:r>
            <a:r>
              <a:rPr spc="-90" dirty="0"/>
              <a:t> </a:t>
            </a:r>
            <a:r>
              <a:rPr spc="-10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8074025" cy="126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empno,ename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  <a:tab pos="1580515" algn="l"/>
                <a:tab pos="2552065" algn="l"/>
                <a:tab pos="3035300" algn="l"/>
                <a:tab pos="3281679" algn="l"/>
                <a:tab pos="4623435" algn="l"/>
                <a:tab pos="5302885" algn="l"/>
                <a:tab pos="6310630" algn="l"/>
                <a:tab pos="6978015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empno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IN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50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SELECT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mgr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WHERE </a:t>
            </a:r>
            <a:r>
              <a:rPr sz="2400" dirty="0">
                <a:latin typeface="Times New Roman"/>
                <a:cs typeface="Times New Roman"/>
              </a:rPr>
              <a:t>mgr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NULL);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035"/>
            <a:ext cx="8072120" cy="3464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dname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dept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emp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Write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above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query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EXISTS.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Select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deptno,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dname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  <a:tab pos="1252855" algn="l"/>
                <a:tab pos="2437765" algn="l"/>
                <a:tab pos="2692400" algn="l"/>
                <a:tab pos="3538220" algn="l"/>
                <a:tab pos="4091304" algn="l"/>
                <a:tab pos="4834890" algn="l"/>
                <a:tab pos="5510530" algn="l"/>
                <a:tab pos="5798185" algn="l"/>
                <a:tab pos="6696075" algn="l"/>
                <a:tab pos="7886700" algn="l"/>
              </a:tabLst>
            </a:pP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EXISTS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(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select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‘X’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from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emp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e.deptno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= </a:t>
            </a:r>
            <a:r>
              <a:rPr sz="2400" spc="-10" dirty="0">
                <a:latin typeface="Times New Roman"/>
                <a:cs typeface="Times New Roman"/>
              </a:rPr>
              <a:t>d.deptno);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1248</Words>
  <Application>Microsoft Office PowerPoint</Application>
  <PresentationFormat>On-screen Show (4:3)</PresentationFormat>
  <Paragraphs>128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 MT</vt:lpstr>
      <vt:lpstr>Times New Roman</vt:lpstr>
      <vt:lpstr>Office Theme</vt:lpstr>
      <vt:lpstr>Subqueries</vt:lpstr>
      <vt:lpstr>Subqueries</vt:lpstr>
      <vt:lpstr>Types of Subqueries</vt:lpstr>
      <vt:lpstr>Single Row Subquery</vt:lpstr>
      <vt:lpstr>Example-2</vt:lpstr>
      <vt:lpstr>Example-3</vt:lpstr>
      <vt:lpstr>Contd..</vt:lpstr>
      <vt:lpstr>Contd..</vt:lpstr>
      <vt:lpstr>Contd..</vt:lpstr>
      <vt:lpstr>Multi-row Subqueries</vt:lpstr>
      <vt:lpstr>Example</vt:lpstr>
      <vt:lpstr>Use of ANY operator</vt:lpstr>
      <vt:lpstr>Use of ALL operator</vt:lpstr>
      <vt:lpstr>Multiple Column Sub Queries</vt:lpstr>
      <vt:lpstr>Example:</vt:lpstr>
      <vt:lpstr>Correlated Subquery</vt:lpstr>
      <vt:lpstr>Contd..</vt:lpstr>
      <vt:lpstr>Example</vt:lpstr>
      <vt:lpstr>Using Exists Operator</vt:lpstr>
      <vt:lpstr>Example</vt:lpstr>
      <vt:lpstr>Alternative Exists Operator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TECHNICAL SEMINAR  ON  CARBON NANOTUBE</dc:title>
  <dc:creator>Surjyo</dc:creator>
  <cp:lastModifiedBy>Shreela Dash</cp:lastModifiedBy>
  <cp:revision>2</cp:revision>
  <dcterms:created xsi:type="dcterms:W3CDTF">2026-02-04T05:54:55Z</dcterms:created>
  <dcterms:modified xsi:type="dcterms:W3CDTF">2026-02-04T07:55:56Z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2026-02-04T00:00:00Z</vt:filetime>
  </property>
  <property fmtid="{D5CDD505-2E9C-101B-9397-08002B2CF9AE}" pid="5" name="Producer">
    <vt:lpwstr>Microsoft® PowerPoint® for Microsoft 365</vt:lpwstr>
  </property>
</Properties>
</file>